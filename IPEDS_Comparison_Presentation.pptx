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4"/>
  </p:notesMasterIdLst>
  <p:sldIdLst>
    <p:sldId id="256" r:id="rId2"/>
    <p:sldId id="273" r:id="rId3"/>
    <p:sldId id="274" r:id="rId4"/>
    <p:sldId id="275" r:id="rId5"/>
    <p:sldId id="278" r:id="rId6"/>
    <p:sldId id="276" r:id="rId7"/>
    <p:sldId id="277" r:id="rId8"/>
    <p:sldId id="261" r:id="rId9"/>
    <p:sldId id="280" r:id="rId10"/>
    <p:sldId id="263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E7076E-7D71-4D20-85B8-BAE4C9A415EB}" v="20" dt="2026-04-10T19:09:29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FF0B-F026-4B59-B842-344CC528DAE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62D2A-6602-424C-BF2F-B6CB6691D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62D2A-6602-424C-BF2F-B6CB6691D2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CDD4-BDAC-7338-4EF3-99174332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9A8C4-CC72-BC41-A067-784B7A24B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2AB49-C66B-CC5C-8AF5-F9A5A1E36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8A2DE-F323-E819-2DAA-7A0732C20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62D2A-6602-424C-BF2F-B6CB6691D2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3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462EF3-3C4F-43EE-ACEE-D4B806740EA3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09472EB-AC54-4713-BFC2-BEB621108C63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7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74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7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1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7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D06B6-C816-4861-964D-15A98395707D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0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6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1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B620EAD-E369-4933-8469-ED7764B56A1B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9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2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6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7" y="336591"/>
            <a:ext cx="10993549" cy="1475013"/>
          </a:xfrm>
        </p:spPr>
        <p:txBody>
          <a:bodyPr>
            <a:normAutofit/>
          </a:bodyPr>
          <a:lstStyle/>
          <a:p>
            <a:r>
              <a:rPr lang="en-US" sz="3600" b="1" dirty="0"/>
              <a:t>IPEDS Data Quality Audit:</a:t>
            </a:r>
          </a:p>
          <a:p>
            <a:r>
              <a:rPr lang="en-US" sz="3600" b="1" dirty="0"/>
              <a:t>Python  vs.  AI-Assisted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227" y="1777690"/>
            <a:ext cx="10993546" cy="590321"/>
          </a:xfrm>
        </p:spPr>
        <p:txBody>
          <a:bodyPr>
            <a:noAutofit/>
          </a:bodyPr>
          <a:lstStyle/>
          <a:p>
            <a:r>
              <a:rPr lang="en-US" sz="2000" dirty="0"/>
              <a:t>A Comparative Analysis | DAMA DMBOK Six Quality Dimensions | Five IPEDS Datasets </a:t>
            </a:r>
          </a:p>
        </p:txBody>
      </p:sp>
      <p:sp>
        <p:nvSpPr>
          <p:cNvPr id="4" name="Presenter"/>
          <p:cNvSpPr>
            <a:spLocks noGrp="1"/>
          </p:cNvSpPr>
          <p:nvPr>
            <p:ph type="subTitle" idx="2"/>
          </p:nvPr>
        </p:nvSpPr>
        <p:spPr>
          <a:xfrm>
            <a:off x="599227" y="2500000"/>
            <a:ext cx="10993546" cy="40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Tricia Beaudreau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D32E-69FC-D7C9-E90F-575B707F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Audit Scope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7C1AC-760F-67CD-31F5-90E990021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5 datasets audited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94028-4FD5-56C4-7D30-934AA168731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8782" y="2228003"/>
            <a:ext cx="3690731" cy="344487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Comprehensive data quality audit of five Integrated Postsecondary Education Data System (IPEDS) datasets published by the US Dept of 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IPEDS is the primary source of data on 6,000+ US higher education institutions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Framework: DAMA DMBOK six data quality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Tool: Python in Google </a:t>
            </a:r>
            <a:r>
              <a:rPr lang="en-US" dirty="0" err="1"/>
              <a:t>Colab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17890A-E187-EF78-7DF7-EBFB35F00F02}"/>
              </a:ext>
            </a:extLst>
          </p:cNvPr>
          <p:cNvGraphicFramePr>
            <a:graphicFrameLocks noGrp="1"/>
          </p:cNvGraphicFramePr>
          <p:nvPr/>
        </p:nvGraphicFramePr>
        <p:xfrm>
          <a:off x="3961311" y="2487561"/>
          <a:ext cx="7649498" cy="2779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780">
                  <a:extLst>
                    <a:ext uri="{9D8B030D-6E8A-4147-A177-3AD203B41FA5}">
                      <a16:colId xmlns:a16="http://schemas.microsoft.com/office/drawing/2014/main" val="2703971942"/>
                    </a:ext>
                  </a:extLst>
                </a:gridCol>
                <a:gridCol w="2363962">
                  <a:extLst>
                    <a:ext uri="{9D8B030D-6E8A-4147-A177-3AD203B41FA5}">
                      <a16:colId xmlns:a16="http://schemas.microsoft.com/office/drawing/2014/main" val="1786632143"/>
                    </a:ext>
                  </a:extLst>
                </a:gridCol>
                <a:gridCol w="987168">
                  <a:extLst>
                    <a:ext uri="{9D8B030D-6E8A-4147-A177-3AD203B41FA5}">
                      <a16:colId xmlns:a16="http://schemas.microsoft.com/office/drawing/2014/main" val="3807053995"/>
                    </a:ext>
                  </a:extLst>
                </a:gridCol>
                <a:gridCol w="1208018">
                  <a:extLst>
                    <a:ext uri="{9D8B030D-6E8A-4147-A177-3AD203B41FA5}">
                      <a16:colId xmlns:a16="http://schemas.microsoft.com/office/drawing/2014/main" val="1102576726"/>
                    </a:ext>
                  </a:extLst>
                </a:gridCol>
                <a:gridCol w="2036570">
                  <a:extLst>
                    <a:ext uri="{9D8B030D-6E8A-4147-A177-3AD203B41FA5}">
                      <a16:colId xmlns:a16="http://schemas.microsoft.com/office/drawing/2014/main" val="3277061998"/>
                    </a:ext>
                  </a:extLst>
                </a:gridCol>
              </a:tblGrid>
              <a:tr h="538821">
                <a:tc>
                  <a:txBody>
                    <a:bodyPr/>
                    <a:lstStyle/>
                    <a:p>
                      <a:r>
                        <a:rPr lang="en-US" sz="16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Unique Institutions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052013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12-Month 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115,026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5,861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169118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Financial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1,911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31611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Graduation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51,011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3,684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370329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Institution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6,072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662443"/>
                  </a:ext>
                </a:extLst>
              </a:tr>
              <a:tr h="448162">
                <a:tc>
                  <a:txBody>
                    <a:bodyPr/>
                    <a:lstStyle/>
                    <a:p>
                      <a:r>
                        <a:rPr lang="en-US" sz="1600" dirty="0"/>
                        <a:t>df5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Institution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5,963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5,963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51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36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Why Audit the Data?</a:t>
            </a:r>
          </a:p>
        </p:txBody>
      </p:sp>
      <p:sp>
        <p:nvSpPr>
          <p:cNvPr id="3" name="B0"/>
          <p:cNvSpPr txBox="1">
            <a:spLocks noGrp="1"/>
          </p:cNvSpPr>
          <p:nvPr/>
        </p:nvSpPr>
        <p:spPr>
          <a:xfrm>
            <a:off x="457200" y="1858906"/>
            <a:ext cx="11277600" cy="1400000"/>
          </a:xfrm>
          <a:prstGeom prst="rect">
            <a:avLst/>
          </a:prstGeom>
          <a:noFill/>
          <a:ln w="28575">
            <a:solidFill>
              <a:srgbClr val="1F3864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1F3864"/>
                </a:solidFill>
              </a:rPr>
              <a:t>Data quality is a governance issue — not just an IT issue.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IPEDS data supports federal financial aid, accreditation decisions, and public institutional rankings. Errors carry real institutional and regulatory risk.</a:t>
            </a:r>
          </a:p>
        </p:txBody>
      </p:sp>
      <p:sp>
        <p:nvSpPr>
          <p:cNvPr id="4" name="B1"/>
          <p:cNvSpPr txBox="1">
            <a:spLocks noGrp="1"/>
          </p:cNvSpPr>
          <p:nvPr/>
        </p:nvSpPr>
        <p:spPr>
          <a:xfrm>
            <a:off x="457200" y="3386356"/>
            <a:ext cx="11277600" cy="14000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C55A11"/>
                </a:solidFill>
              </a:rPr>
              <a:t>Five datasets. Six quality checks. One federal standard.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Enrollment, finances, graduation rates, directory, and characteristics data were each evaluated against the DAMA DMBOK framework — the recognized standard for data governance.</a:t>
            </a:r>
          </a:p>
        </p:txBody>
      </p:sp>
      <p:sp>
        <p:nvSpPr>
          <p:cNvPr id="5" name="B2"/>
          <p:cNvSpPr txBox="1">
            <a:spLocks noGrp="1"/>
          </p:cNvSpPr>
          <p:nvPr/>
        </p:nvSpPr>
        <p:spPr>
          <a:xfrm>
            <a:off x="457200" y="4929306"/>
            <a:ext cx="11277600" cy="1400000"/>
          </a:xfrm>
          <a:prstGeom prst="rect">
            <a:avLst/>
          </a:prstGeom>
          <a:noFill/>
          <a:ln w="28575">
            <a:solidFill>
              <a:srgbClr val="375623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375623"/>
                </a:solidFill>
              </a:rPr>
              <a:t>Catching issues early protects the institution.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Undetected data defects can distort reporting, mislead stakeholders, and surface as compliance findings. Proactive auditing is the first line of defense.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Why Compare Two Methods?</a:t>
            </a:r>
          </a:p>
        </p:txBody>
      </p:sp>
      <p:sp>
        <p:nvSpPr>
          <p:cNvPr id="3" name="B0"/>
          <p:cNvSpPr txBox="1">
            <a:spLocks noGrp="1"/>
          </p:cNvSpPr>
          <p:nvPr/>
        </p:nvSpPr>
        <p:spPr>
          <a:xfrm>
            <a:off x="457200" y="1884449"/>
            <a:ext cx="11277600" cy="1400000"/>
          </a:xfrm>
          <a:prstGeom prst="rect">
            <a:avLst/>
          </a:prstGeom>
          <a:noFill/>
          <a:ln w="28575">
            <a:solidFill>
              <a:srgbClr val="1F3864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1F3864"/>
                </a:solidFill>
              </a:rPr>
              <a:t>A traditional audit takes ~7 working days.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Analyst-led auditing requires specialized data science skills and significant time investment making it difficult to sustain as a routine governance practice.</a:t>
            </a:r>
          </a:p>
        </p:txBody>
      </p:sp>
      <p:sp>
        <p:nvSpPr>
          <p:cNvPr id="4" name="B1"/>
          <p:cNvSpPr txBox="1">
            <a:spLocks noGrp="1"/>
          </p:cNvSpPr>
          <p:nvPr/>
        </p:nvSpPr>
        <p:spPr>
          <a:xfrm>
            <a:off x="457200" y="3429000"/>
            <a:ext cx="11277600" cy="14000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C55A11"/>
                </a:solidFill>
              </a:rPr>
              <a:t>A new AI-assisted approach completed the same audit in 19 minutes.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AI tools can now automatically profile large datasets, flag anomalies, score quality dimensions, and generate governance reports in a fraction of the time.</a:t>
            </a:r>
          </a:p>
        </p:txBody>
      </p:sp>
      <p:sp>
        <p:nvSpPr>
          <p:cNvPr id="5" name="B2"/>
          <p:cNvSpPr txBox="1">
            <a:spLocks noGrp="1"/>
          </p:cNvSpPr>
          <p:nvPr/>
        </p:nvSpPr>
        <p:spPr>
          <a:xfrm>
            <a:off x="457200" y="4973551"/>
            <a:ext cx="11277600" cy="1400000"/>
          </a:xfrm>
          <a:prstGeom prst="rect">
            <a:avLst/>
          </a:prstGeom>
          <a:noFill/>
          <a:ln w="28575">
            <a:solidFill>
              <a:srgbClr val="375623"/>
            </a:solidFill>
          </a:ln>
        </p:spPr>
        <p:txBody>
          <a:bodyPr wrap="square" anchor="ctr"/>
          <a:lstStyle/>
          <a:p>
            <a:pPr>
              <a:buNone/>
            </a:pPr>
            <a:r>
              <a:rPr lang="en-US" sz="1900" b="1" dirty="0">
                <a:solidFill>
                  <a:srgbClr val="375623"/>
                </a:solidFill>
              </a:rPr>
              <a:t>The question: can AI match the rigor of expert analysis?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If AI-assisted auditing is reliable, we can run quality checks at every IPEDS data release — turning a once-a-year effort into continuous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How the Two Approaches Differ</a:t>
            </a:r>
          </a:p>
        </p:txBody>
      </p:sp>
      <p:graphicFrame>
        <p:nvGraphicFramePr>
          <p:cNvPr id="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550039"/>
              </p:ext>
            </p:extLst>
          </p:nvPr>
        </p:nvGraphicFramePr>
        <p:xfrm>
          <a:off x="457200" y="1877820"/>
          <a:ext cx="11277600" cy="4685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Python / Google Colab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Claude Cowork (AI-Assisted)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Who does the work?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Analyst writes and runs every test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AI profiles the data automatically;  Analyst prompts AI agent, verifies results, edits reports as needed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Time to complete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~7 working days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19 minutes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Skills required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 science, Python expertise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Domain knowledge to validate output, Generative AI workflow development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Best suited for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Annual deep-dive; policy interpretation; stakeholder narrative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Routine quality checks; fast turnaround; every data release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</a:rPr>
                        <a:t>Output</a:t>
                      </a:r>
                    </a:p>
                  </a:txBody>
                  <a:tcPr marL="114300" marR="114300" marT="57150" marB="571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Google 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</a:rPr>
                        <a:t>Colab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 notebook with charts, scoring, and contextual analysis based on domain knowledge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Formal report with dimension scores, findings register, charts, and recommendations tailored to specific audiences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Where Both Methods Agreed</a:t>
            </a:r>
          </a:p>
        </p:txBody>
      </p:sp>
      <p:sp>
        <p:nvSpPr>
          <p:cNvPr id="3" name="S0"/>
          <p:cNvSpPr txBox="1">
            <a:spLocks noGrp="1"/>
          </p:cNvSpPr>
          <p:nvPr/>
        </p:nvSpPr>
        <p:spPr>
          <a:xfrm>
            <a:off x="457200" y="1847278"/>
            <a:ext cx="5524500" cy="2110700"/>
          </a:xfrm>
          <a:prstGeom prst="rect">
            <a:avLst/>
          </a:prstGeom>
          <a:noFill/>
          <a:ln w="28575">
            <a:solidFill>
              <a:srgbClr val="1F3864"/>
            </a:solidFill>
          </a:ln>
        </p:spPr>
        <p:txBody>
          <a:bodyPr wrap="square" anchor="ctr"/>
          <a:lstStyle/>
          <a:p>
            <a:pPr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864"/>
                </a:solidFill>
              </a:rPr>
              <a:t>Critical Encoding Defect</a:t>
            </a:r>
          </a:p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Both methods independently identified the BOM encoding defect on DF4 as the single most critical issue requiring immediate remediation.</a:t>
            </a:r>
          </a:p>
        </p:txBody>
      </p:sp>
      <p:sp>
        <p:nvSpPr>
          <p:cNvPr id="4" name="S1"/>
          <p:cNvSpPr txBox="1">
            <a:spLocks noGrp="1"/>
          </p:cNvSpPr>
          <p:nvPr/>
        </p:nvSpPr>
        <p:spPr>
          <a:xfrm>
            <a:off x="6210300" y="1847278"/>
            <a:ext cx="5524500" cy="21107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square" anchor="ctr"/>
          <a:lstStyle/>
          <a:p>
            <a:pPr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55A11"/>
                </a:solidFill>
              </a:rPr>
              <a:t>Compliance Risk</a:t>
            </a:r>
          </a:p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Both flagged 39 institutions sharing OPEIDs with administrative offices posing a federal financial aid compliance risk.</a:t>
            </a:r>
          </a:p>
        </p:txBody>
      </p:sp>
      <p:sp>
        <p:nvSpPr>
          <p:cNvPr id="5" name="S2"/>
          <p:cNvSpPr txBox="1">
            <a:spLocks noGrp="1"/>
          </p:cNvSpPr>
          <p:nvPr/>
        </p:nvSpPr>
        <p:spPr>
          <a:xfrm>
            <a:off x="457200" y="4157978"/>
            <a:ext cx="5524500" cy="2110700"/>
          </a:xfrm>
          <a:prstGeom prst="rect">
            <a:avLst/>
          </a:prstGeom>
          <a:noFill/>
          <a:ln w="28575">
            <a:solidFill>
              <a:srgbClr val="1F3864"/>
            </a:solidFill>
          </a:ln>
        </p:spPr>
        <p:txBody>
          <a:bodyPr wrap="square" anchor="ctr"/>
          <a:lstStyle/>
          <a:p>
            <a:pPr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864"/>
                </a:solidFill>
              </a:rPr>
              <a:t>Reporting Anomaly</a:t>
            </a:r>
          </a:p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Both found 14 closed institutions still appearing in active enrollment and graduation data.</a:t>
            </a:r>
          </a:p>
        </p:txBody>
      </p:sp>
      <p:sp>
        <p:nvSpPr>
          <p:cNvPr id="6" name="S3"/>
          <p:cNvSpPr txBox="1">
            <a:spLocks noGrp="1"/>
          </p:cNvSpPr>
          <p:nvPr/>
        </p:nvSpPr>
        <p:spPr>
          <a:xfrm>
            <a:off x="6210300" y="4157978"/>
            <a:ext cx="5524500" cy="2110700"/>
          </a:xfrm>
          <a:prstGeom prst="rect">
            <a:avLst/>
          </a:prstGeom>
          <a:noFill/>
          <a:ln w="28575">
            <a:solidFill>
              <a:srgbClr val="375623"/>
            </a:solidFill>
          </a:ln>
        </p:spPr>
        <p:txBody>
          <a:bodyPr wrap="square" anchor="ctr"/>
          <a:lstStyle/>
          <a:p>
            <a:pPr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75623"/>
                </a:solidFill>
              </a:rPr>
              <a:t>Strong Integrity</a:t>
            </a:r>
          </a:p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Both confirmed 100% referential integrity. Every institution in each dataset resolves cleanly to the master Directory.</a:t>
            </a:r>
          </a:p>
        </p:txBody>
      </p:sp>
      <p:sp>
        <p:nvSpPr>
          <p:cNvPr id="7" name="Msg"/>
          <p:cNvSpPr txBox="1">
            <a:spLocks noGrp="1"/>
          </p:cNvSpPr>
          <p:nvPr/>
        </p:nvSpPr>
        <p:spPr>
          <a:xfrm>
            <a:off x="457200" y="6400000"/>
            <a:ext cx="11277600" cy="400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300" b="1" dirty="0">
                <a:solidFill>
                  <a:srgbClr val="1F3864"/>
                </a:solidFill>
              </a:rPr>
              <a:t>Two very different methods. The same critical findings. Agreement signals high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Unique Findings by Method</a:t>
            </a:r>
          </a:p>
        </p:txBody>
      </p:sp>
      <p:sp>
        <p:nvSpPr>
          <p:cNvPr id="3" name="Hdr3"/>
          <p:cNvSpPr txBox="1">
            <a:spLocks noGrp="1"/>
          </p:cNvSpPr>
          <p:nvPr/>
        </p:nvSpPr>
        <p:spPr>
          <a:xfrm>
            <a:off x="457200" y="2035000"/>
            <a:ext cx="5524500" cy="5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/ Google Colab Found</a:t>
            </a:r>
          </a:p>
        </p:txBody>
      </p:sp>
      <p:sp>
        <p:nvSpPr>
          <p:cNvPr id="4" name="BL"/>
          <p:cNvSpPr txBox="1">
            <a:spLocks noGrp="1"/>
          </p:cNvSpPr>
          <p:nvPr/>
        </p:nvSpPr>
        <p:spPr>
          <a:xfrm>
            <a:off x="457200" y="2643916"/>
            <a:ext cx="5524500" cy="237981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Sector insight: for-profit institutions make up 37% of campuses but only 8.4% of enrollment </a:t>
            </a:r>
          </a:p>
          <a:p>
            <a:pPr marL="304800" indent="-304800"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Geographic context: 7 Pacific Island institutions flagged as outliers were confirmed legitimate</a:t>
            </a:r>
          </a:p>
          <a:p>
            <a:pPr marL="304800" indent="-304800"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Domain gatekeeping: Negative codes (-1, -2, -3, -9) span hundreds of columns with no embedded data dictionary 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Data lineage risk: df1 Enrollment and df2 Finances contain no internal year column, reporting year exists only in the filename</a:t>
            </a:r>
          </a:p>
          <a:p>
            <a:pPr marL="304800" indent="-304800">
              <a:buFont typeface="Arial" charset="0"/>
              <a:buChar char="•"/>
            </a:pPr>
            <a:endParaRPr lang="en-US" sz="1500" dirty="0">
              <a:solidFill>
                <a:srgbClr val="333333"/>
              </a:solidFill>
            </a:endParaRPr>
          </a:p>
        </p:txBody>
      </p:sp>
      <p:sp>
        <p:nvSpPr>
          <p:cNvPr id="5" name="Hdr5"/>
          <p:cNvSpPr txBox="1">
            <a:spLocks noGrp="1"/>
          </p:cNvSpPr>
          <p:nvPr/>
        </p:nvSpPr>
        <p:spPr>
          <a:xfrm>
            <a:off x="6210300" y="2035000"/>
            <a:ext cx="5524500" cy="57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Claude Cowork (AI-Assisted) Found</a:t>
            </a:r>
          </a:p>
        </p:txBody>
      </p:sp>
      <p:sp>
        <p:nvSpPr>
          <p:cNvPr id="6" name="BR"/>
          <p:cNvSpPr txBox="1">
            <a:spLocks noGrp="1"/>
          </p:cNvSpPr>
          <p:nvPr/>
        </p:nvSpPr>
        <p:spPr>
          <a:xfrm>
            <a:off x="6210300" y="2646978"/>
            <a:ext cx="5524500" cy="270373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8,069 imputed cells in df2 Finances which may be misread as actual reported data by downstream users</a:t>
            </a:r>
          </a:p>
          <a:p>
            <a:pPr marL="304800" indent="-304800">
              <a:spcAft>
                <a:spcPts val="600"/>
              </a:spcAft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13.3% imputation rate in financial data, a disclosure requirement in any financial analysis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Subtle encoding inconsistency between df4 and all other four files resulting in a technical defect invisible to manual review</a:t>
            </a:r>
          </a:p>
        </p:txBody>
      </p:sp>
      <p:sp>
        <p:nvSpPr>
          <p:cNvPr id="7" name="Msg2"/>
          <p:cNvSpPr txBox="1">
            <a:spLocks noGrp="1"/>
          </p:cNvSpPr>
          <p:nvPr/>
        </p:nvSpPr>
        <p:spPr>
          <a:xfrm>
            <a:off x="457200" y="6200000"/>
            <a:ext cx="11277600" cy="400000"/>
          </a:xfrm>
          <a:prstGeom prst="rect">
            <a:avLst/>
          </a:prstGeom>
          <a:solidFill>
            <a:srgbClr val="FFF4EE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300" b="1" dirty="0">
                <a:solidFill>
                  <a:srgbClr val="C55A11"/>
                </a:solidFill>
              </a:rPr>
              <a:t>Together, the methods cover both institutional context and technical precision — neither replaces the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Data Quality Scores by Dataset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974" y="2033312"/>
            <a:ext cx="9144924" cy="4474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9509-17CC-D06D-81A4-9ABAC94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>
            <a:extLst>
              <a:ext uri="{FF2B5EF4-FFF2-40B4-BE49-F238E27FC236}">
                <a16:creationId xmlns:a16="http://schemas.microsoft.com/office/drawing/2014/main" id="{D3DE10BD-982B-1890-60A7-75EF110C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Why the scores differ</a:t>
            </a:r>
          </a:p>
        </p:txBody>
      </p:sp>
      <p:sp>
        <p:nvSpPr>
          <p:cNvPr id="4" name="box">
            <a:extLst>
              <a:ext uri="{FF2B5EF4-FFF2-40B4-BE49-F238E27FC236}">
                <a16:creationId xmlns:a16="http://schemas.microsoft.com/office/drawing/2014/main" id="{552FDD55-469F-91F7-4D3C-5B24FE92CF4F}"/>
              </a:ext>
            </a:extLst>
          </p:cNvPr>
          <p:cNvSpPr txBox="1">
            <a:spLocks noRot="1"/>
          </p:cNvSpPr>
          <p:nvPr/>
        </p:nvSpPr>
        <p:spPr>
          <a:xfrm>
            <a:off x="457200" y="1937316"/>
            <a:ext cx="5547360" cy="3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91440" tIns="91440" rIns="91440" bIns="91440" anchor="t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Negative Values Treated as Errors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D8B871F2-16F9-1560-3592-CF211A2A9B81}"/>
              </a:ext>
            </a:extLst>
          </p:cNvPr>
          <p:cNvSpPr txBox="1">
            <a:spLocks noRot="1"/>
          </p:cNvSpPr>
          <p:nvPr/>
        </p:nvSpPr>
        <p:spPr>
          <a:xfrm>
            <a:off x="457200" y="2428929"/>
            <a:ext cx="5547360" cy="1432009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lIns="91440" tIns="91440" rIns="91440" bIns="91440" anchor="t"/>
          <a:lstStyle/>
          <a:p>
            <a:pPr marL="228600" indent="-228600">
              <a:spcAft>
                <a:spcPts val="600"/>
              </a:spcAft>
              <a:buFont typeface="Arial" charset="0"/>
              <a:buChar char="•"/>
            </a:pPr>
            <a:r>
              <a:rPr lang="en-US" sz="1400" dirty="0">
                <a:solidFill>
                  <a:srgbClr val="2E2E2E"/>
                </a:solidFill>
              </a:rPr>
              <a:t>Python flagged widespread negative values across df2, df4, and df5 as consistency defects scoring some datasets as low as 6/10</a:t>
            </a:r>
          </a:p>
          <a:p>
            <a:pPr marL="228600" indent="-228600">
              <a:buFont typeface="Arial" charset="0"/>
              <a:buChar char="•"/>
            </a:pPr>
            <a:r>
              <a:rPr lang="en-US" sz="1400" dirty="0" err="1">
                <a:solidFill>
                  <a:srgbClr val="2E2E2E"/>
                </a:solidFill>
              </a:rPr>
              <a:t>Cowork</a:t>
            </a:r>
            <a:r>
              <a:rPr lang="en-US" sz="1400" dirty="0">
                <a:solidFill>
                  <a:srgbClr val="2E2E2E"/>
                </a:solidFill>
              </a:rPr>
              <a:t> recognized that IPEDS uses negative integers as valid coded sentinel values (e.g., -2 = Not Applicable, -1 = Not Reported), lifting Consistency scores to 9–10/10 across those datasets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61CBA6C9-E12A-DDAA-7CF3-F548AF43C298}"/>
              </a:ext>
            </a:extLst>
          </p:cNvPr>
          <p:cNvSpPr txBox="1">
            <a:spLocks noRot="1"/>
          </p:cNvSpPr>
          <p:nvPr/>
        </p:nvSpPr>
        <p:spPr>
          <a:xfrm>
            <a:off x="457200" y="4184577"/>
            <a:ext cx="5547360" cy="3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lIns="91440" tIns="91440" rIns="91440" bIns="91440" anchor="t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Multi-Row Architecture Misidentified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9CD45EE1-5FF9-901D-899A-66997901A77C}"/>
              </a:ext>
            </a:extLst>
          </p:cNvPr>
          <p:cNvSpPr txBox="1">
            <a:spLocks noRot="1"/>
          </p:cNvSpPr>
          <p:nvPr/>
        </p:nvSpPr>
        <p:spPr>
          <a:xfrm>
            <a:off x="457200" y="4662075"/>
            <a:ext cx="5547360" cy="163057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lIns="91440" tIns="91440" rIns="91440" bIns="91440" anchor="t"/>
          <a:lstStyle/>
          <a:p>
            <a:pPr marL="228600" indent="-228600">
              <a:spcAft>
                <a:spcPts val="600"/>
              </a:spcAft>
              <a:buFont typeface="Arial" charset="0"/>
              <a:buChar char="•"/>
            </a:pPr>
            <a:r>
              <a:rPr lang="en-US" sz="1400" dirty="0">
                <a:solidFill>
                  <a:srgbClr val="2E2E2E"/>
                </a:solidFill>
              </a:rPr>
              <a:t>Python flagged 109,165 'duplicate' UNITIDs in df1 Enrollment and 47,327 in df3 Grad Rates as uniqueness concerns, capping both at 9/10</a:t>
            </a:r>
          </a:p>
          <a:p>
            <a:pPr marL="228600" indent="-228600">
              <a:buFont typeface="Arial" charset="0"/>
              <a:buChar char="•"/>
            </a:pPr>
            <a:r>
              <a:rPr lang="en-US" sz="1400" dirty="0" err="1">
                <a:solidFill>
                  <a:srgbClr val="2E2E2E"/>
                </a:solidFill>
              </a:rPr>
              <a:t>Cowork</a:t>
            </a:r>
            <a:r>
              <a:rPr lang="en-US" sz="1400" dirty="0">
                <a:solidFill>
                  <a:srgbClr val="2E2E2E"/>
                </a:solidFill>
              </a:rPr>
              <a:t> recognized these as intentional design, one row per institution-demographic-level combination, and scored Uniqueness 10/10, reflecting zero true duplicates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7966DEF2-2D25-FCEC-480B-2113E651435E}"/>
              </a:ext>
            </a:extLst>
          </p:cNvPr>
          <p:cNvSpPr txBox="1">
            <a:spLocks noRot="1"/>
          </p:cNvSpPr>
          <p:nvPr/>
        </p:nvSpPr>
        <p:spPr>
          <a:xfrm>
            <a:off x="6187440" y="1937316"/>
            <a:ext cx="5547360" cy="38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lIns="91440" tIns="91440" rIns="91440" bIns="91440" anchor="t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DF2 Finances: Population Scope Misread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21D27322-20CB-7D9A-4D47-824E700CF4E7}"/>
              </a:ext>
            </a:extLst>
          </p:cNvPr>
          <p:cNvSpPr txBox="1">
            <a:spLocks noRot="1"/>
          </p:cNvSpPr>
          <p:nvPr/>
        </p:nvSpPr>
        <p:spPr>
          <a:xfrm>
            <a:off x="6187440" y="2428929"/>
            <a:ext cx="5547360" cy="1432009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lIns="91440" tIns="91440" rIns="91440" bIns="91440" anchor="t"/>
          <a:lstStyle/>
          <a:p>
            <a:pPr marL="228600" indent="-228600">
              <a:spcAft>
                <a:spcPts val="600"/>
              </a:spcAft>
              <a:buFont typeface="Arial" charset="0"/>
              <a:buChar char="•"/>
            </a:pPr>
            <a:r>
              <a:rPr lang="en-US" sz="1400" dirty="0">
                <a:solidFill>
                  <a:srgbClr val="2E2E2E"/>
                </a:solidFill>
              </a:rPr>
              <a:t>Python benchmarked df2's 1,911 institutions against the full 6,072-institution directory, a 68.5% gap, scoring Completeness at 4/10</a:t>
            </a:r>
          </a:p>
          <a:p>
            <a:pPr marL="228600" indent="-228600">
              <a:buFont typeface="Arial" charset="0"/>
              <a:buChar char="•"/>
            </a:pPr>
            <a:r>
              <a:rPr lang="en-US" sz="1400" dirty="0" err="1">
                <a:solidFill>
                  <a:srgbClr val="2E2E2E"/>
                </a:solidFill>
              </a:rPr>
              <a:t>Cowork</a:t>
            </a:r>
            <a:r>
              <a:rPr lang="en-US" sz="1400" dirty="0">
                <a:solidFill>
                  <a:srgbClr val="2E2E2E"/>
                </a:solidFill>
              </a:rPr>
              <a:t> understood that df2 (Form F1A) covers only public GASB-reporting institutions by design. Coverage limitation is structural, not a defect, resulting in a 7/10 Completeness score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820ED761-05A6-1166-803C-C95CAC2DA86B}"/>
              </a:ext>
            </a:extLst>
          </p:cNvPr>
          <p:cNvSpPr txBox="1">
            <a:spLocks noRot="1"/>
          </p:cNvSpPr>
          <p:nvPr/>
        </p:nvSpPr>
        <p:spPr>
          <a:xfrm>
            <a:off x="6187440" y="4184577"/>
            <a:ext cx="5547360" cy="38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lIns="91440" tIns="91440" rIns="91440" bIns="91440" anchor="t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Depth of Cross-Dataset Validation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4CF41013-797D-F3B6-75DE-8AA618F5DE46}"/>
              </a:ext>
            </a:extLst>
          </p:cNvPr>
          <p:cNvSpPr txBox="1">
            <a:spLocks noRot="1"/>
          </p:cNvSpPr>
          <p:nvPr/>
        </p:nvSpPr>
        <p:spPr>
          <a:xfrm>
            <a:off x="6187440" y="4662075"/>
            <a:ext cx="5547360" cy="163057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lIns="91440" tIns="91440" rIns="91440" bIns="91440" anchor="t"/>
          <a:lstStyle/>
          <a:p>
            <a:pPr marL="228600" indent="-228600">
              <a:spcAft>
                <a:spcPts val="600"/>
              </a:spcAft>
              <a:buFont typeface="Arial" charset="0"/>
              <a:buChar char="•"/>
            </a:pPr>
            <a:r>
              <a:rPr lang="en-US" sz="1400" dirty="0">
                <a:solidFill>
                  <a:srgbClr val="2E2E2E"/>
                </a:solidFill>
              </a:rPr>
              <a:t>Python's uniqueness and consistency checks were less comprehensive in cross-dataset scope, leaving more uncertainty in scoring and resulting in lower Consistency ratings overall</a:t>
            </a:r>
          </a:p>
          <a:p>
            <a:pPr marL="228600" indent="-228600">
              <a:buFont typeface="Arial" charset="0"/>
              <a:buChar char="•"/>
            </a:pPr>
            <a:r>
              <a:rPr lang="en-US" sz="1400" dirty="0" err="1">
                <a:solidFill>
                  <a:srgbClr val="2E2E2E"/>
                </a:solidFill>
              </a:rPr>
              <a:t>Cowork</a:t>
            </a:r>
            <a:r>
              <a:rPr lang="en-US" sz="1400" dirty="0">
                <a:solidFill>
                  <a:srgbClr val="2E2E2E"/>
                </a:solidFill>
              </a:rPr>
              <a:t> performed exhaustive referential integrity validation, confirming 100% UNITID alignment across all 119,911 records in four transactional datasets, an exceptional governance outcome</a:t>
            </a:r>
          </a:p>
          <a:p>
            <a:endParaRPr lang="en-US" sz="1400" dirty="0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6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Strengths &amp; Limitations of Each Approach</a:t>
            </a:r>
          </a:p>
        </p:txBody>
      </p:sp>
      <p:sp>
        <p:nvSpPr>
          <p:cNvPr id="3" name="Hdr3"/>
          <p:cNvSpPr txBox="1">
            <a:spLocks noGrp="1"/>
          </p:cNvSpPr>
          <p:nvPr/>
        </p:nvSpPr>
        <p:spPr>
          <a:xfrm>
            <a:off x="457200" y="2035000"/>
            <a:ext cx="5524500" cy="57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/ Google Colab</a:t>
            </a:r>
          </a:p>
        </p:txBody>
      </p:sp>
      <p:sp>
        <p:nvSpPr>
          <p:cNvPr id="4" name="Hdr4"/>
          <p:cNvSpPr txBox="1">
            <a:spLocks noGrp="1"/>
          </p:cNvSpPr>
          <p:nvPr/>
        </p:nvSpPr>
        <p:spPr>
          <a:xfrm>
            <a:off x="6210300" y="2035000"/>
            <a:ext cx="5524500" cy="57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</a:rPr>
              <a:t>Claude Cowork (AI-Assisted)</a:t>
            </a:r>
          </a:p>
        </p:txBody>
      </p:sp>
      <p:sp>
        <p:nvSpPr>
          <p:cNvPr id="5" name="Lb5"/>
          <p:cNvSpPr txBox="1">
            <a:spLocks noGrp="1"/>
          </p:cNvSpPr>
          <p:nvPr/>
        </p:nvSpPr>
        <p:spPr>
          <a:xfrm>
            <a:off x="457200" y="2658264"/>
            <a:ext cx="5524500" cy="342900"/>
          </a:xfrm>
          <a:prstGeom prst="rect">
            <a:avLst/>
          </a:prstGeom>
          <a:solidFill>
            <a:srgbClr val="375623">
              <a:lumMod val="20000"/>
              <a:lumOff val="80000"/>
            </a:srgbClr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375623"/>
                </a:solidFill>
              </a:rPr>
              <a:t>✔  STRENGTHS</a:t>
            </a:r>
          </a:p>
        </p:txBody>
      </p:sp>
      <p:sp>
        <p:nvSpPr>
          <p:cNvPr id="6" name="Sb5"/>
          <p:cNvSpPr txBox="1">
            <a:spLocks noGrp="1"/>
          </p:cNvSpPr>
          <p:nvPr/>
        </p:nvSpPr>
        <p:spPr>
          <a:xfrm>
            <a:off x="457200" y="3029754"/>
            <a:ext cx="55245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Deep institutional context: sector, geography, governance frameworks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Reproducible: full Google </a:t>
            </a:r>
            <a:r>
              <a:rPr lang="en-US" sz="1500" dirty="0" err="1">
                <a:solidFill>
                  <a:srgbClr val="333333"/>
                </a:solidFill>
              </a:rPr>
              <a:t>Colab</a:t>
            </a:r>
            <a:r>
              <a:rPr lang="en-US" sz="1500" dirty="0">
                <a:solidFill>
                  <a:srgbClr val="333333"/>
                </a:solidFill>
              </a:rPr>
              <a:t> notebook with visualizations and scoring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Easily research new avenues as data reveals story</a:t>
            </a:r>
          </a:p>
        </p:txBody>
      </p:sp>
      <p:sp>
        <p:nvSpPr>
          <p:cNvPr id="7" name="Lb7"/>
          <p:cNvSpPr txBox="1">
            <a:spLocks noGrp="1"/>
          </p:cNvSpPr>
          <p:nvPr/>
        </p:nvSpPr>
        <p:spPr>
          <a:xfrm>
            <a:off x="457200" y="4491500"/>
            <a:ext cx="5524500" cy="342900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C00000"/>
                </a:solidFill>
              </a:rPr>
              <a:t>✗  LIMITATIONS</a:t>
            </a:r>
          </a:p>
        </p:txBody>
      </p:sp>
      <p:sp>
        <p:nvSpPr>
          <p:cNvPr id="8" name="Lb5"/>
          <p:cNvSpPr txBox="1">
            <a:spLocks noGrp="1"/>
          </p:cNvSpPr>
          <p:nvPr/>
        </p:nvSpPr>
        <p:spPr>
          <a:xfrm>
            <a:off x="457200" y="4870012"/>
            <a:ext cx="55245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7 working days, not practical for routine governance cycles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Requires data analysis and Python experience; limits accessibility</a:t>
            </a:r>
          </a:p>
        </p:txBody>
      </p:sp>
      <p:sp>
        <p:nvSpPr>
          <p:cNvPr id="9" name="Lb9"/>
          <p:cNvSpPr txBox="1">
            <a:spLocks noGrp="1"/>
          </p:cNvSpPr>
          <p:nvPr/>
        </p:nvSpPr>
        <p:spPr>
          <a:xfrm>
            <a:off x="6210300" y="2653094"/>
            <a:ext cx="5524500" cy="342900"/>
          </a:xfrm>
          <a:prstGeom prst="rect">
            <a:avLst/>
          </a:prstGeom>
          <a:solidFill>
            <a:srgbClr val="375623">
              <a:lumMod val="20000"/>
              <a:lumOff val="80000"/>
            </a:srgbClr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375623"/>
                </a:solidFill>
              </a:rPr>
              <a:t>✔  STRENGTHS</a:t>
            </a:r>
          </a:p>
        </p:txBody>
      </p:sp>
      <p:sp>
        <p:nvSpPr>
          <p:cNvPr id="10" name="Sb9"/>
          <p:cNvSpPr txBox="1">
            <a:spLocks noGrp="1"/>
          </p:cNvSpPr>
          <p:nvPr/>
        </p:nvSpPr>
        <p:spPr>
          <a:xfrm>
            <a:off x="6210300" y="3029754"/>
            <a:ext cx="55245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19-minute completion, practical for ad hoc audits and routine deeper analysis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Systematic defect detection: encoding errors, Z-flag risk, imputation rates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Limited data analysis experience required</a:t>
            </a:r>
          </a:p>
        </p:txBody>
      </p:sp>
      <p:sp>
        <p:nvSpPr>
          <p:cNvPr id="11" name="Lb11"/>
          <p:cNvSpPr txBox="1">
            <a:spLocks noGrp="1"/>
          </p:cNvSpPr>
          <p:nvPr/>
        </p:nvSpPr>
        <p:spPr>
          <a:xfrm>
            <a:off x="6210300" y="4491500"/>
            <a:ext cx="5524500" cy="342900"/>
          </a:xfrm>
          <a:prstGeom prst="rect">
            <a:avLst/>
          </a:prstGeom>
          <a:solidFill>
            <a:srgbClr val="C00000">
              <a:lumMod val="20000"/>
              <a:lumOff val="80000"/>
            </a:srgbClr>
          </a:solidFill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C00000"/>
                </a:solidFill>
              </a:rPr>
              <a:t>✗  LIMITATIONS</a:t>
            </a:r>
          </a:p>
        </p:txBody>
      </p:sp>
      <p:sp>
        <p:nvSpPr>
          <p:cNvPr id="12" name="Lb9"/>
          <p:cNvSpPr txBox="1">
            <a:spLocks noGrp="1"/>
          </p:cNvSpPr>
          <p:nvPr/>
        </p:nvSpPr>
        <p:spPr>
          <a:xfrm>
            <a:off x="6210300" y="4834400"/>
            <a:ext cx="55245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Limited institutional context, no sector-level narrative analysis</a:t>
            </a:r>
          </a:p>
          <a:p>
            <a:pPr marL="304800" indent="-304800">
              <a:buFont typeface="Arial" charset="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No IPEDS-specific domain knowledge embedded in audit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Conclusion</a:t>
            </a:r>
          </a:p>
        </p:txBody>
      </p:sp>
      <p:sp>
        <p:nvSpPr>
          <p:cNvPr id="3" name="C3"/>
          <p:cNvSpPr txBox="1">
            <a:spLocks noGrp="1"/>
          </p:cNvSpPr>
          <p:nvPr/>
        </p:nvSpPr>
        <p:spPr>
          <a:xfrm>
            <a:off x="457200" y="1938613"/>
            <a:ext cx="11277600" cy="1400000"/>
          </a:xfrm>
          <a:prstGeom prst="rect">
            <a:avLst/>
          </a:prstGeom>
          <a:noFill/>
          <a:ln w="28575">
            <a:solidFill>
              <a:srgbClr val="1F3864"/>
            </a:solidFill>
          </a:ln>
        </p:spPr>
        <p:txBody>
          <a:bodyPr wrap="square" anchor="ctr"/>
          <a:lstStyle/>
          <a:p>
            <a:pPr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F3864"/>
                </a:solidFill>
              </a:rPr>
              <a:t>Both audits confirm IPEDS data is governance-ready.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No dataset was rated below 7.3 (Acceptable) in either method.</a:t>
            </a:r>
          </a:p>
        </p:txBody>
      </p:sp>
      <p:sp>
        <p:nvSpPr>
          <p:cNvPr id="4" name="C4"/>
          <p:cNvSpPr txBox="1">
            <a:spLocks noGrp="1"/>
          </p:cNvSpPr>
          <p:nvPr/>
        </p:nvSpPr>
        <p:spPr>
          <a:xfrm>
            <a:off x="457200" y="3519388"/>
            <a:ext cx="11277600" cy="14000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square" anchor="ctr"/>
          <a:lstStyle/>
          <a:p>
            <a:pPr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C55A11"/>
                </a:solidFill>
              </a:rPr>
              <a:t>The two approaches are complementary, not competitive.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AI-assisted auditing excels at speed and technical detection; Python auditing excels at institutional depth and policy interpretation.</a:t>
            </a:r>
          </a:p>
        </p:txBody>
      </p:sp>
      <p:sp>
        <p:nvSpPr>
          <p:cNvPr id="5" name="C5"/>
          <p:cNvSpPr txBox="1">
            <a:spLocks noGrp="1"/>
          </p:cNvSpPr>
          <p:nvPr/>
        </p:nvSpPr>
        <p:spPr>
          <a:xfrm>
            <a:off x="457200" y="5100163"/>
            <a:ext cx="11277600" cy="1400000"/>
          </a:xfrm>
          <a:prstGeom prst="rect">
            <a:avLst/>
          </a:prstGeom>
          <a:noFill/>
          <a:ln w="28575">
            <a:solidFill>
              <a:srgbClr val="375623"/>
            </a:solidFill>
          </a:ln>
        </p:spPr>
        <p:txBody>
          <a:bodyPr wrap="square" anchor="ctr"/>
          <a:lstStyle/>
          <a:p>
            <a:pPr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375623"/>
                </a:solidFill>
              </a:rPr>
              <a:t>19 minutes vs. 7 working days — both have a place.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Scheduled AI audits maintain technical quality baselines; periodic analyst reviews provide strategic context for stakeholders.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33DCEA-34AA-44E9-C6AE-5179010D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985" y="687193"/>
            <a:ext cx="10993546" cy="590321"/>
          </a:xfrm>
        </p:spPr>
        <p:txBody>
          <a:bodyPr/>
          <a:lstStyle/>
          <a:p>
            <a:r>
              <a:rPr lang="en-US" dirty="0"/>
              <a:t>created by Claude </a:t>
            </a:r>
            <a:r>
              <a:rPr lang="en-US" dirty="0" err="1"/>
              <a:t>Cowork</a:t>
            </a:r>
            <a:r>
              <a:rPr lang="en-US" dirty="0"/>
              <a:t>, Prompted and Edited by Tricia Beaudreau</a:t>
            </a:r>
          </a:p>
        </p:txBody>
      </p:sp>
    </p:spTree>
    <p:extLst>
      <p:ext uri="{BB962C8B-B14F-4D97-AF65-F5344CB8AC3E}">
        <p14:creationId xmlns:p14="http://schemas.microsoft.com/office/powerpoint/2010/main" val="216036867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720</TotalTime>
  <Words>1168</Words>
  <Application>Microsoft Office PowerPoint</Application>
  <PresentationFormat>Widescreen</PresentationFormat>
  <Paragraphs>136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Gill Sans MT</vt:lpstr>
      <vt:lpstr>Wingdings 2</vt:lpstr>
      <vt:lpstr>Dividend</vt:lpstr>
      <vt:lpstr>IPEDS Data Quality Audit: Python  vs.  AI-Assisted Approach</vt:lpstr>
      <vt:lpstr>Audit Scope</vt:lpstr>
      <vt:lpstr>Why Audit the Data?</vt:lpstr>
      <vt:lpstr>Why Compare Two Methods?</vt:lpstr>
      <vt:lpstr>How the Two Approaches Differ</vt:lpstr>
      <vt:lpstr>Where Both Methods Agreed</vt:lpstr>
      <vt:lpstr>Unique Findings by Method</vt:lpstr>
      <vt:lpstr>Data Quality Scores by Dataset</vt:lpstr>
      <vt:lpstr>Why the scores differ</vt:lpstr>
      <vt:lpstr>Strengths &amp; Limitations of Each Approach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Tricia Logan</dc:creator>
  <cp:lastModifiedBy>Beaudreau, Patricia</cp:lastModifiedBy>
  <cp:revision>6</cp:revision>
  <dcterms:created xsi:type="dcterms:W3CDTF">2026-04-08T16:19:11Z</dcterms:created>
  <dcterms:modified xsi:type="dcterms:W3CDTF">2026-04-30T17:32:37Z</dcterms:modified>
</cp:coreProperties>
</file>
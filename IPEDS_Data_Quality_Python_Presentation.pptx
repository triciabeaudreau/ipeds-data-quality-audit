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A0E85-D085-4FFE-A421-DEC791ECE8A6}" v="42" dt="2026-04-08T22:33:25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FF0B-F026-4B59-B842-344CC528DAE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62D2A-6602-424C-BF2F-B6CB6691D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ICLEVEL = &lt;2, 2-4, or 4 year institution or N/A. CONTROL = public, private non, private profit, Byte Order Mark resolved by switching to UTF-8-SIG instead of Latin-1 encoding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62D2A-6602-424C-BF2F-B6CB6691D2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46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– university systems show large combined assets, Haskell reports under federal not GASB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62D2A-6602-424C-BF2F-B6CB6691D2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462EF3-3C4F-43EE-ACEE-D4B806740EA3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09472EB-AC54-4713-BFC2-BEB621108C63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7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74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7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1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7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D06B6-C816-4861-964D-15A98395707D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0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6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1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B620EAD-E369-4933-8469-ED7764B56A1B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9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2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6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964A-D3A6-895E-EC20-D603677D0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7" y="233851"/>
            <a:ext cx="10993549" cy="1475013"/>
          </a:xfrm>
        </p:spPr>
        <p:txBody>
          <a:bodyPr>
            <a:normAutofit/>
          </a:bodyPr>
          <a:lstStyle/>
          <a:p>
            <a:r>
              <a:rPr lang="en-US" sz="4800" dirty="0"/>
              <a:t>IPEDS Data Quality Audit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56724-1AAA-6D8E-7E42-B7202A633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1777690"/>
            <a:ext cx="10993546" cy="590321"/>
          </a:xfrm>
        </p:spPr>
        <p:txBody>
          <a:bodyPr>
            <a:noAutofit/>
          </a:bodyPr>
          <a:lstStyle/>
          <a:p>
            <a:r>
              <a:rPr lang="en-US" sz="1400" dirty="0"/>
              <a:t>2024 Survey Cycle – Five Dataset Review</a:t>
            </a:r>
          </a:p>
          <a:p>
            <a:r>
              <a:rPr lang="en-US" sz="1400" dirty="0"/>
              <a:t>Framework: DAMA DMBOK Six Quality Dimensions</a:t>
            </a:r>
          </a:p>
          <a:p>
            <a:r>
              <a:rPr lang="en-US" sz="1400" dirty="0"/>
              <a:t>Tricia Beaudreau | 04.08.2026</a:t>
            </a:r>
          </a:p>
        </p:txBody>
      </p:sp>
    </p:spTree>
    <p:extLst>
      <p:ext uri="{BB962C8B-B14F-4D97-AF65-F5344CB8AC3E}">
        <p14:creationId xmlns:p14="http://schemas.microsoft.com/office/powerpoint/2010/main" val="44675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D32E-69FC-D7C9-E90F-575B707F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Audit Scope &amp; Approach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7C1AC-760F-67CD-31F5-90E9900219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5 datasets audited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94028-4FD5-56C4-7D30-934AA168731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16245" y="2228003"/>
            <a:ext cx="3578391" cy="3441833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Comprehensive data quality audit of five Integrated Postsecondary Education Data System (IPEDS) datasets published by the US Dept of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IPEDS is the primary source of data on 6,000+ US higher education institutions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Framework: DAMA DMBOK six data quality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Tool: Python in Google </a:t>
            </a:r>
            <a:r>
              <a:rPr lang="en-US" dirty="0" err="1"/>
              <a:t>Colab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17890A-E187-EF78-7DF7-EBFB35F00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768728"/>
              </p:ext>
            </p:extLst>
          </p:nvPr>
        </p:nvGraphicFramePr>
        <p:xfrm>
          <a:off x="3961311" y="2487561"/>
          <a:ext cx="7649498" cy="2779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80">
                  <a:extLst>
                    <a:ext uri="{9D8B030D-6E8A-4147-A177-3AD203B41FA5}">
                      <a16:colId xmlns:a16="http://schemas.microsoft.com/office/drawing/2014/main" val="2703971942"/>
                    </a:ext>
                  </a:extLst>
                </a:gridCol>
                <a:gridCol w="2363962">
                  <a:extLst>
                    <a:ext uri="{9D8B030D-6E8A-4147-A177-3AD203B41FA5}">
                      <a16:colId xmlns:a16="http://schemas.microsoft.com/office/drawing/2014/main" val="1786632143"/>
                    </a:ext>
                  </a:extLst>
                </a:gridCol>
                <a:gridCol w="987168">
                  <a:extLst>
                    <a:ext uri="{9D8B030D-6E8A-4147-A177-3AD203B41FA5}">
                      <a16:colId xmlns:a16="http://schemas.microsoft.com/office/drawing/2014/main" val="3807053995"/>
                    </a:ext>
                  </a:extLst>
                </a:gridCol>
                <a:gridCol w="1208018">
                  <a:extLst>
                    <a:ext uri="{9D8B030D-6E8A-4147-A177-3AD203B41FA5}">
                      <a16:colId xmlns:a16="http://schemas.microsoft.com/office/drawing/2014/main" val="1102576726"/>
                    </a:ext>
                  </a:extLst>
                </a:gridCol>
                <a:gridCol w="2036570">
                  <a:extLst>
                    <a:ext uri="{9D8B030D-6E8A-4147-A177-3AD203B41FA5}">
                      <a16:colId xmlns:a16="http://schemas.microsoft.com/office/drawing/2014/main" val="3277061998"/>
                    </a:ext>
                  </a:extLst>
                </a:gridCol>
              </a:tblGrid>
              <a:tr h="538821">
                <a:tc>
                  <a:txBody>
                    <a:bodyPr/>
                    <a:lstStyle/>
                    <a:p>
                      <a:r>
                        <a:rPr lang="en-US" sz="16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Unique Institutions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052013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12-Month 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115,026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5,861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169118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Financial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1,911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31611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Graduation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51,011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3,684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370329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Institution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6,072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662443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Institution Characteristics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5,963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5,963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51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36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DE48-ED6F-85C6-1449-3A1F62BC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6B26-5166-CA8A-468C-8CB6AFA3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Audit Framework: DAMA DMBOK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F83C1-9D1E-429D-0A66-28EA56298EC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16076" y="2259403"/>
            <a:ext cx="9232491" cy="2880608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900" b="1" dirty="0"/>
              <a:t>Six Data Quality Dimensions: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/>
              <a:t>Completeness – Are all required values present?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/>
              <a:t>Uniqueness – Are records free of unintended duplicates?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/>
              <a:t>Timeliness – Is data current for its intended use?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/>
              <a:t>Validity – Do values conform to defined rules and formats?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/>
              <a:t>Accuracy – Does data correctly represent reality?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/>
              <a:t>Consistency – Is data coherent across datasets?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6C2D7-5B1E-2CBA-51D5-DE8221A21BF6}"/>
              </a:ext>
            </a:extLst>
          </p:cNvPr>
          <p:cNvSpPr txBox="1"/>
          <p:nvPr/>
        </p:nvSpPr>
        <p:spPr>
          <a:xfrm>
            <a:off x="816076" y="5321491"/>
            <a:ext cx="544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dataset scored 0 – 10 per dimension</a:t>
            </a:r>
          </a:p>
          <a:p>
            <a:r>
              <a:rPr lang="en-US" sz="1400" dirty="0"/>
              <a:t>Based on DAMA International, Data Management Body of Knowledge</a:t>
            </a:r>
          </a:p>
        </p:txBody>
      </p:sp>
    </p:spTree>
    <p:extLst>
      <p:ext uri="{BB962C8B-B14F-4D97-AF65-F5344CB8AC3E}">
        <p14:creationId xmlns:p14="http://schemas.microsoft.com/office/powerpoint/2010/main" val="220263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1072-CAFB-9839-112D-36290BCC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Overall Data Quality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C47CF8-C922-345F-E345-A6299B8EF5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311" y="2445847"/>
            <a:ext cx="7321121" cy="3245718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4745F2-5B05-5BB2-2FBC-C0EA8EE25B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8850726"/>
              </p:ext>
            </p:extLst>
          </p:nvPr>
        </p:nvGraphicFramePr>
        <p:xfrm>
          <a:off x="7831037" y="2376338"/>
          <a:ext cx="3901811" cy="169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793">
                  <a:extLst>
                    <a:ext uri="{9D8B030D-6E8A-4147-A177-3AD203B41FA5}">
                      <a16:colId xmlns:a16="http://schemas.microsoft.com/office/drawing/2014/main" val="3522685299"/>
                    </a:ext>
                  </a:extLst>
                </a:gridCol>
                <a:gridCol w="1257009">
                  <a:extLst>
                    <a:ext uri="{9D8B030D-6E8A-4147-A177-3AD203B41FA5}">
                      <a16:colId xmlns:a16="http://schemas.microsoft.com/office/drawing/2014/main" val="3007173485"/>
                    </a:ext>
                  </a:extLst>
                </a:gridCol>
                <a:gridCol w="1257009">
                  <a:extLst>
                    <a:ext uri="{9D8B030D-6E8A-4147-A177-3AD203B41FA5}">
                      <a16:colId xmlns:a16="http://schemas.microsoft.com/office/drawing/2014/main" val="3357967788"/>
                    </a:ext>
                  </a:extLst>
                </a:gridCol>
              </a:tblGrid>
              <a:tr h="320768">
                <a:tc>
                  <a:txBody>
                    <a:bodyPr/>
                    <a:lstStyle/>
                    <a:p>
                      <a:r>
                        <a:rPr lang="en-US" sz="12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214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/>
                        <a:t>df1 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3646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/>
                        <a:t>df2 Finances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2545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/>
                        <a:t>df3 Grad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846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/>
                        <a:t>df4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9849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/>
                        <a:t>df5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502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781395-0203-6936-DB98-8AE9EBF70EBF}"/>
              </a:ext>
            </a:extLst>
          </p:cNvPr>
          <p:cNvSpPr txBox="1"/>
          <p:nvPr/>
        </p:nvSpPr>
        <p:spPr>
          <a:xfrm>
            <a:off x="7831037" y="4473677"/>
            <a:ext cx="39018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Key Insights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2"/>
                </a:solidFill>
              </a:rPr>
              <a:t>No dataset scored below Acceptable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2"/>
                </a:solidFill>
              </a:rPr>
              <a:t>IPEDS data is well-structured and suitable for research and policy analysis with appropriate domain knowledge</a:t>
            </a:r>
          </a:p>
        </p:txBody>
      </p:sp>
    </p:spTree>
    <p:extLst>
      <p:ext uri="{BB962C8B-B14F-4D97-AF65-F5344CB8AC3E}">
        <p14:creationId xmlns:p14="http://schemas.microsoft.com/office/powerpoint/2010/main" val="95526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BD21-6E33-7B2F-E6D6-A8B3BA26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5A92-6282-490E-0389-66861A66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Dimension 1:  Completeness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9171D-0D84-5DA8-0FE4-D217FA8D2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73" y="1917290"/>
            <a:ext cx="3471899" cy="472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0381F4-89D9-C27C-0D6A-39E958458CDB}"/>
              </a:ext>
            </a:extLst>
          </p:cNvPr>
          <p:cNvSpPr txBox="1"/>
          <p:nvPr/>
        </p:nvSpPr>
        <p:spPr>
          <a:xfrm>
            <a:off x="4304772" y="2187291"/>
            <a:ext cx="73348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df1 Enrollment: Rare reporting situation columns 88-98% null, expected by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BB6F-95C3-1070-F159-3FEA1C0D7A45}"/>
              </a:ext>
            </a:extLst>
          </p:cNvPr>
          <p:cNvSpPr txBox="1"/>
          <p:nvPr/>
        </p:nvSpPr>
        <p:spPr>
          <a:xfrm>
            <a:off x="4321277" y="3038168"/>
            <a:ext cx="7284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df2 Finances: 1,911 of 6,072 institutions report financial data, F1A covers public GASB institutions only. 97 columns contain up to 58% missing values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9BE9A-4CFB-3539-F815-9091AC0FA569}"/>
              </a:ext>
            </a:extLst>
          </p:cNvPr>
          <p:cNvSpPr txBox="1"/>
          <p:nvPr/>
        </p:nvSpPr>
        <p:spPr>
          <a:xfrm>
            <a:off x="4321277" y="4002491"/>
            <a:ext cx="7284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df3 Grad Rate: 3,684 of 6,072 institutions report graduation data, non-degree seeking institutions do not report. All 30 demographic columns have missing count of 3,623 rows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520EC-37A0-653D-E82E-706F7F2538AA}"/>
              </a:ext>
            </a:extLst>
          </p:cNvPr>
          <p:cNvSpPr txBox="1"/>
          <p:nvPr/>
        </p:nvSpPr>
        <p:spPr>
          <a:xfrm>
            <a:off x="4347617" y="5035640"/>
            <a:ext cx="70792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df4 Directory: Optional URL fields 14-72% null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FAF09-CA76-D396-B1C6-D014BE26CC2B}"/>
              </a:ext>
            </a:extLst>
          </p:cNvPr>
          <p:cNvSpPr txBox="1"/>
          <p:nvPr/>
        </p:nvSpPr>
        <p:spPr>
          <a:xfrm>
            <a:off x="4347617" y="5966759"/>
            <a:ext cx="6705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df5 Characteristics: DISABPCT 71.2% null, only reported when rare threshold met</a:t>
            </a:r>
          </a:p>
        </p:txBody>
      </p:sp>
    </p:spTree>
    <p:extLst>
      <p:ext uri="{BB962C8B-B14F-4D97-AF65-F5344CB8AC3E}">
        <p14:creationId xmlns:p14="http://schemas.microsoft.com/office/powerpoint/2010/main" val="100654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18A0-3532-F07D-E66E-3BDB23E3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Dimension 2: 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5FD3B-22E9-981F-B02C-FFB576B86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90033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Strong results across all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 fully duplicated rows in any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df2, df4, df5: Zero duplicated UNITIDs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df1, df3: Expected duplicate UNITIDs by design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Concerns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39 duplicate OPEIDs found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OPEIDs should be campus-specific and not shared across organization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Poses financial aid compliance risk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026E3-D96B-AFF9-2A0F-290051EB4B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100% referential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 orphaned records across all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UNITID functions as reliable primary key across IPEDS system</a:t>
            </a:r>
          </a:p>
        </p:txBody>
      </p:sp>
    </p:spTree>
    <p:extLst>
      <p:ext uri="{BB962C8B-B14F-4D97-AF65-F5344CB8AC3E}">
        <p14:creationId xmlns:p14="http://schemas.microsoft.com/office/powerpoint/2010/main" val="324288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E0EF-944D-7D3F-7330-F42BC847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Dimension 3:  Timeliness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74ED366-4098-950C-CDC8-51183543BB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40100470"/>
              </p:ext>
            </p:extLst>
          </p:nvPr>
        </p:nvGraphicFramePr>
        <p:xfrm>
          <a:off x="659849" y="2703649"/>
          <a:ext cx="49742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348">
                  <a:extLst>
                    <a:ext uri="{9D8B030D-6E8A-4147-A177-3AD203B41FA5}">
                      <a16:colId xmlns:a16="http://schemas.microsoft.com/office/drawing/2014/main" val="3480946311"/>
                    </a:ext>
                  </a:extLst>
                </a:gridCol>
                <a:gridCol w="2846853">
                  <a:extLst>
                    <a:ext uri="{9D8B030D-6E8A-4147-A177-3AD203B41FA5}">
                      <a16:colId xmlns:a16="http://schemas.microsoft.com/office/drawing/2014/main" val="213378016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b="0" dirty="0"/>
                        <a:t>71 Institutions reported Closed in df4 Directory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59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# institutions still reporting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31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df1 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86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df2 Finances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10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df3 Grad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98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df5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80557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5C1EA-EA97-F75B-534C-E413DD3D0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5163" y="2703649"/>
            <a:ext cx="4424516" cy="2225041"/>
          </a:xfrm>
        </p:spPr>
        <p:txBody>
          <a:bodyPr anchor="t"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internal year column in df1 Enrollment or df2 Finances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Reporting year exists only in filenames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Governance risk for longitudinal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 IPEDS system-wide addition of internal year columns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532B9-720A-BC20-2F3F-B9886B321276}"/>
              </a:ext>
            </a:extLst>
          </p:cNvPr>
          <p:cNvSpPr txBox="1"/>
          <p:nvPr/>
        </p:nvSpPr>
        <p:spPr>
          <a:xfrm>
            <a:off x="581192" y="2231923"/>
            <a:ext cx="511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Institutions Closed in 2024 reporting period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195AB-E097-F66A-BDE2-B1F44A0C0600}"/>
              </a:ext>
            </a:extLst>
          </p:cNvPr>
          <p:cNvSpPr txBox="1"/>
          <p:nvPr/>
        </p:nvSpPr>
        <p:spPr>
          <a:xfrm>
            <a:off x="6555163" y="2278089"/>
            <a:ext cx="350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Critical Data Gap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60FD72-588B-4992-66E1-6A1902EA56F5}"/>
              </a:ext>
            </a:extLst>
          </p:cNvPr>
          <p:cNvCxnSpPr/>
          <p:nvPr/>
        </p:nvCxnSpPr>
        <p:spPr>
          <a:xfrm>
            <a:off x="6125496" y="2143432"/>
            <a:ext cx="0" cy="3559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03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7C79-9C82-3C48-D1F1-EBDDB363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Dimension 4: 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3992D-B64C-F654-4992-1CF93926D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44" y="3075232"/>
            <a:ext cx="5023195" cy="1437775"/>
          </a:xfrm>
        </p:spPr>
        <p:txBody>
          <a:bodyPr anchor="t"/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Strongest dimension across all datasets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Validity scores capped at 9 as checks were thorough, but not exhaustive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4F541D-CFA7-D92D-36B3-7A6EAC343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027888"/>
              </p:ext>
            </p:extLst>
          </p:nvPr>
        </p:nvGraphicFramePr>
        <p:xfrm>
          <a:off x="6299200" y="2462627"/>
          <a:ext cx="4693266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523">
                  <a:extLst>
                    <a:ext uri="{9D8B030D-6E8A-4147-A177-3AD203B41FA5}">
                      <a16:colId xmlns:a16="http://schemas.microsoft.com/office/drawing/2014/main" val="3638876235"/>
                    </a:ext>
                  </a:extLst>
                </a:gridCol>
                <a:gridCol w="2359743">
                  <a:extLst>
                    <a:ext uri="{9D8B030D-6E8A-4147-A177-3AD203B41FA5}">
                      <a16:colId xmlns:a16="http://schemas.microsoft.com/office/drawing/2014/main" val="2860820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Checks Performed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6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Zip code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 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4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 abbreviations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 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95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ICLEVEL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values -3,1,2,3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7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values 1,2,3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0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Enrollment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decimals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123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Graduation rate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negatives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46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Df4 UNITID had BOM, rendering as </a:t>
                      </a:r>
                      <a:r>
                        <a:rPr lang="en-US" sz="1400" dirty="0" err="1"/>
                        <a:t>ï»¿UNITID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828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78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F18E-CE94-1B2D-66C6-69E9B67D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Dimension 5: 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60B59-D29D-B36C-80A7-E6E5A1C1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048" y="2138573"/>
            <a:ext cx="2554071" cy="536005"/>
          </a:xfrm>
        </p:spPr>
        <p:txBody>
          <a:bodyPr/>
          <a:lstStyle/>
          <a:p>
            <a:r>
              <a:rPr lang="en-US" dirty="0"/>
              <a:t>Enrollment Outliers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26DE-7E7B-D718-483B-36628A25A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4048" y="2674578"/>
            <a:ext cx="3322215" cy="293499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Top 10 institutions dominated by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online universities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B3B8D-2651-3383-43E2-EB15744E9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50898" y="2298939"/>
            <a:ext cx="4370407" cy="385530"/>
          </a:xfrm>
        </p:spPr>
        <p:txBody>
          <a:bodyPr/>
          <a:lstStyle/>
          <a:p>
            <a:r>
              <a:rPr lang="en-US" dirty="0"/>
              <a:t>Financial Outliers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414D1-323A-9333-FF45-6012AA8FD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32503" y="2674578"/>
            <a:ext cx="3941457" cy="988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System universities consolidate assets,           Haskell reports under federal standards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79EA34-A32F-6A39-B825-A1CC508CE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48" y="3247218"/>
            <a:ext cx="3185720" cy="2299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7BE797-6880-DEA6-74DC-2A5460E7E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898" y="3247218"/>
            <a:ext cx="3588700" cy="21254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15F88D-4A5B-59B9-30C0-3F657CFE1BFB}"/>
              </a:ext>
            </a:extLst>
          </p:cNvPr>
          <p:cNvSpPr txBox="1"/>
          <p:nvPr/>
        </p:nvSpPr>
        <p:spPr>
          <a:xfrm>
            <a:off x="7972691" y="2271315"/>
            <a:ext cx="25540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z="2200" dirty="0">
                <a:solidFill>
                  <a:srgbClr val="4590B8"/>
                </a:solidFill>
                <a:latin typeface="Gill Sans MT" panose="020B0502020104020203"/>
              </a:rPr>
              <a:t>Geographic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Outliers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BC473-BE89-267F-162D-63A243C21388}"/>
              </a:ext>
            </a:extLst>
          </p:cNvPr>
          <p:cNvSpPr txBox="1"/>
          <p:nvPr/>
        </p:nvSpPr>
        <p:spPr>
          <a:xfrm>
            <a:off x="7998702" y="2675020"/>
            <a:ext cx="36121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z="1400" dirty="0">
                <a:solidFill>
                  <a:srgbClr val="3D3D3D"/>
                </a:solidFill>
                <a:latin typeface="Gill Sans MT" panose="020B0502020104020203"/>
              </a:rPr>
              <a:t>7 flagged institutions are all US-affiliated Pacific Island institutions with accurate coordinates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CC7BF6-1E0D-27FB-DFE3-B7F6A8893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851" y="3226031"/>
            <a:ext cx="3516435" cy="205576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D94CD2-B928-C1C0-A1F1-AC8522B19129}"/>
              </a:ext>
            </a:extLst>
          </p:cNvPr>
          <p:cNvCxnSpPr/>
          <p:nvPr/>
        </p:nvCxnSpPr>
        <p:spPr>
          <a:xfrm>
            <a:off x="3824747" y="2138573"/>
            <a:ext cx="0" cy="3559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999B1F-6269-F780-5737-6C84FA0D66FC}"/>
              </a:ext>
            </a:extLst>
          </p:cNvPr>
          <p:cNvCxnSpPr/>
          <p:nvPr/>
        </p:nvCxnSpPr>
        <p:spPr>
          <a:xfrm>
            <a:off x="7831392" y="2138573"/>
            <a:ext cx="0" cy="3559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E7A9F0D-A115-FF09-2AF6-A1FF9CAAD265}"/>
              </a:ext>
            </a:extLst>
          </p:cNvPr>
          <p:cNvSpPr/>
          <p:nvPr/>
        </p:nvSpPr>
        <p:spPr>
          <a:xfrm>
            <a:off x="6518787" y="4876800"/>
            <a:ext cx="344129" cy="285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8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A2F8-8FB7-FCAB-8CF2-651A772B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Dimension 6: 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EAD3-0F73-CF18-A48B-B2F6C73D20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complex dimension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Domain knowledge required to analyze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Without IPEDS data dictionary, negative values appear to be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coding conventions are inconsistently defined in IPEDS dictionaries by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 in reduced interoperability for analysts unfamiliar with conventions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B3B4CD-916B-5A55-6D35-7116CEF5BD5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73650382"/>
              </p:ext>
            </p:extLst>
          </p:nvPr>
        </p:nvGraphicFramePr>
        <p:xfrm>
          <a:off x="7279371" y="2131334"/>
          <a:ext cx="3440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635">
                  <a:extLst>
                    <a:ext uri="{9D8B030D-6E8A-4147-A177-3AD203B41FA5}">
                      <a16:colId xmlns:a16="http://schemas.microsoft.com/office/drawing/2014/main" val="1360932864"/>
                    </a:ext>
                  </a:extLst>
                </a:gridCol>
                <a:gridCol w="2244565">
                  <a:extLst>
                    <a:ext uri="{9D8B030D-6E8A-4147-A177-3AD203B41FA5}">
                      <a16:colId xmlns:a16="http://schemas.microsoft.com/office/drawing/2014/main" val="411395930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b="0" dirty="0"/>
                        <a:t>Negative Coding Conventions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88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Not reported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84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Not applicable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6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085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Not 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837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43CD8C-C12C-ACD8-EF42-407D2E144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930663"/>
              </p:ext>
            </p:extLst>
          </p:nvPr>
        </p:nvGraphicFramePr>
        <p:xfrm>
          <a:off x="6760669" y="4237600"/>
          <a:ext cx="44776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370">
                  <a:extLst>
                    <a:ext uri="{9D8B030D-6E8A-4147-A177-3AD203B41FA5}">
                      <a16:colId xmlns:a16="http://schemas.microsoft.com/office/drawing/2014/main" val="1360932864"/>
                    </a:ext>
                  </a:extLst>
                </a:gridCol>
                <a:gridCol w="2448234">
                  <a:extLst>
                    <a:ext uri="{9D8B030D-6E8A-4147-A177-3AD203B41FA5}">
                      <a16:colId xmlns:a16="http://schemas.microsoft.com/office/drawing/2014/main" val="4113959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bg1"/>
                          </a:solidFill>
                        </a:rPr>
                        <a:t># of columns affected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95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df1 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84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df2 Finances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6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df3 Grad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085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df4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52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df5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837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C15F054-0BC9-F117-6763-01B0E6E16C0B}"/>
              </a:ext>
            </a:extLst>
          </p:cNvPr>
          <p:cNvSpPr txBox="1"/>
          <p:nvPr/>
        </p:nvSpPr>
        <p:spPr>
          <a:xfrm>
            <a:off x="6760669" y="6531464"/>
            <a:ext cx="44776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*This one enrollment column contains 88% negative values</a:t>
            </a:r>
          </a:p>
        </p:txBody>
      </p:sp>
    </p:spTree>
    <p:extLst>
      <p:ext uri="{BB962C8B-B14F-4D97-AF65-F5344CB8AC3E}">
        <p14:creationId xmlns:p14="http://schemas.microsoft.com/office/powerpoint/2010/main" val="11944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D37E-C2CB-A48D-6B51-FE7946AC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What the Data Reveals:  Institutional Landscape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F397DC-487B-72E6-4250-5E48C77589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3708" y="2228004"/>
            <a:ext cx="6260423" cy="363304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50599-A72A-A869-379C-B192237C3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922" y="2458065"/>
            <a:ext cx="5073446" cy="3402985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/>
              <a:t>Key Insights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For-profit institutions are the most numerous sector, but serve only 8.4% of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Public institutions represent one-third of institutions, but serve almost three-fourths of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Using institution counts as a proxy for educational impact will significantly overestimate the role of for-profit institutions and underestimate the dominance of public higher education</a:t>
            </a:r>
          </a:p>
        </p:txBody>
      </p:sp>
    </p:spTree>
    <p:extLst>
      <p:ext uri="{BB962C8B-B14F-4D97-AF65-F5344CB8AC3E}">
        <p14:creationId xmlns:p14="http://schemas.microsoft.com/office/powerpoint/2010/main" val="3831218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CA68E-5715-FE73-0568-DBE05425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2172-43EC-E863-ABB3-B93F6590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What the Data Reveals:  Sector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B3DC1-B245-2194-72B0-101A74CFA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921" y="2458065"/>
            <a:ext cx="5211097" cy="3402985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/>
              <a:t>Key Insights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For-profit: </a:t>
            </a:r>
            <a:r>
              <a:rPr lang="en-US" sz="1600" dirty="0"/>
              <a:t>Largely consists of Less than 2-Year institutions providing vocational and certificate programs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Private Non-profit:  </a:t>
            </a:r>
            <a:r>
              <a:rPr lang="en-US" sz="1600" dirty="0"/>
              <a:t>Almost entirely 4-Year+ institutions consisting of traditional degree-granting colleges and universities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Public: </a:t>
            </a:r>
            <a:r>
              <a:rPr lang="en-US" sz="1600" dirty="0"/>
              <a:t>More balanced distribution due to 4-Year university and community college institutions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Cross-sector comparisons must account for these structural differences to arrive at meaningful results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BFF25D-4DFD-419A-AB99-825A9DAB8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9" y="2228002"/>
            <a:ext cx="6115216" cy="390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70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F66F-1FE3-205D-431B-B25D07FE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Findings Mapped to Governance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85ABF-93E8-3E34-8856-20B40E80E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1708" y="5437414"/>
            <a:ext cx="3635619" cy="1749723"/>
          </a:xfrm>
        </p:spPr>
        <p:txBody>
          <a:bodyPr anchor="t"/>
          <a:lstStyle/>
          <a:p>
            <a:r>
              <a:rPr lang="en-US" sz="1400" dirty="0">
                <a:solidFill>
                  <a:schemeClr val="tx2"/>
                </a:solidFill>
              </a:rPr>
              <a:t>12 total findings documented across 5 of the 6 DAMA DMBOK data quality dimensions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High: 2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Medium: 7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Low: 3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4365D9-A179-6D3D-CCC2-BB24AB5380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33027" y="1961356"/>
            <a:ext cx="3449856" cy="347605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AE0248-584B-51B3-4F68-E4E3A6B329DE}"/>
              </a:ext>
            </a:extLst>
          </p:cNvPr>
          <p:cNvCxnSpPr>
            <a:cxnSpLocks/>
          </p:cNvCxnSpPr>
          <p:nvPr/>
        </p:nvCxnSpPr>
        <p:spPr>
          <a:xfrm>
            <a:off x="5899354" y="2369569"/>
            <a:ext cx="0" cy="3903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A4CA90C3-85AB-BA6A-0F18-AE1B05DE7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679" y="1961356"/>
            <a:ext cx="3635613" cy="41307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58FF82-458B-CE9C-BC85-DA16E3BA6E4B}"/>
              </a:ext>
            </a:extLst>
          </p:cNvPr>
          <p:cNvSpPr txBox="1"/>
          <p:nvPr/>
        </p:nvSpPr>
        <p:spPr>
          <a:xfrm>
            <a:off x="7737986" y="6108678"/>
            <a:ext cx="3519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Relatively few data quality issues were found, with zero findings in the Validity dimension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1505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74B8-D434-A258-D839-27F050A4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Priority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C82-3588-CD0D-7126-069560B3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0" y="2346057"/>
            <a:ext cx="1806820" cy="536005"/>
          </a:xfrm>
        </p:spPr>
        <p:txBody>
          <a:bodyPr/>
          <a:lstStyle/>
          <a:p>
            <a:r>
              <a:rPr lang="en-US" dirty="0"/>
              <a:t>Critical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B28A6-DFFB-784E-96FE-7C45CF8C1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1" y="2882067"/>
            <a:ext cx="5092022" cy="11450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Only use dataset F1A alone when analyzing financial data for public universities. Combine with F2 and F3 (submitted by private institutions) for complete financial coverage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52B46-92B3-EB7A-401B-54575BBD4711}"/>
              </a:ext>
            </a:extLst>
          </p:cNvPr>
          <p:cNvSpPr txBox="1"/>
          <p:nvPr/>
        </p:nvSpPr>
        <p:spPr>
          <a:xfrm>
            <a:off x="6217711" y="2451180"/>
            <a:ext cx="9317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High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3A412-A7CF-80F3-DEBE-D1785DF8B339}"/>
              </a:ext>
            </a:extLst>
          </p:cNvPr>
          <p:cNvSpPr txBox="1"/>
          <p:nvPr/>
        </p:nvSpPr>
        <p:spPr>
          <a:xfrm>
            <a:off x="6217711" y="2882067"/>
            <a:ext cx="5092023" cy="1055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Review and correct shared OPEIDs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lang="en-US" dirty="0">
                <a:solidFill>
                  <a:srgbClr val="3D3D3D"/>
                </a:solidFill>
                <a:latin typeface="Gill Sans MT" panose="020B0502020104020203"/>
              </a:rPr>
              <a:t>Add REPORT_YEAR column to all datasets for longitudinal analysis safety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7B6AD-E82C-7E64-34B8-E070CBCE9F03}"/>
              </a:ext>
            </a:extLst>
          </p:cNvPr>
          <p:cNvSpPr txBox="1"/>
          <p:nvPr/>
        </p:nvSpPr>
        <p:spPr>
          <a:xfrm>
            <a:off x="581190" y="4242562"/>
            <a:ext cx="29965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z="2200" dirty="0">
                <a:solidFill>
                  <a:srgbClr val="4590B8"/>
                </a:solidFill>
                <a:latin typeface="Gill Sans MT" panose="020B0502020104020203"/>
              </a:rPr>
              <a:t>Medium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ACEE5A-3CD6-3B93-69C6-7335E3BED91D}"/>
              </a:ext>
            </a:extLst>
          </p:cNvPr>
          <p:cNvSpPr txBox="1"/>
          <p:nvPr/>
        </p:nvSpPr>
        <p:spPr>
          <a:xfrm>
            <a:off x="581190" y="4640153"/>
            <a:ext cx="5092021" cy="1742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Create centralized sentinel value registry for all negative coding conventions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lang="en-US" dirty="0">
                <a:solidFill>
                  <a:srgbClr val="3D3D3D"/>
                </a:solidFill>
                <a:latin typeface="Gill Sans MT" panose="020B0502020104020203"/>
              </a:rPr>
              <a:t>Apply DEATHYR filter before all cross-dataset analysis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Standardize all IPEDS file encoding to UTF-8-SIG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7A53A-80F6-D91E-FB5E-5B6C0F3882AD}"/>
              </a:ext>
            </a:extLst>
          </p:cNvPr>
          <p:cNvSpPr txBox="1"/>
          <p:nvPr/>
        </p:nvSpPr>
        <p:spPr>
          <a:xfrm>
            <a:off x="6217711" y="4242562"/>
            <a:ext cx="45228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z="2200" dirty="0">
                <a:solidFill>
                  <a:srgbClr val="4590B8"/>
                </a:solidFill>
                <a:latin typeface="Gill Sans MT" panose="020B0502020104020203"/>
              </a:rPr>
              <a:t>Low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086EF7-71D1-AA7E-3CB6-869101D9EF69}"/>
              </a:ext>
            </a:extLst>
          </p:cNvPr>
          <p:cNvSpPr txBox="1"/>
          <p:nvPr/>
        </p:nvSpPr>
        <p:spPr>
          <a:xfrm>
            <a:off x="6217711" y="4673449"/>
            <a:ext cx="5092021" cy="1055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Add territory flag for Pacific Island institutions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lang="en-US" dirty="0">
                <a:solidFill>
                  <a:srgbClr val="3D3D3D"/>
                </a:solidFill>
                <a:latin typeface="Gill Sans MT" panose="020B0502020104020203"/>
              </a:rPr>
              <a:t>Always pair institution counts with enrollment figures to avoid misleading conclusions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0DB0ABD-B349-63C8-82D2-20A463CB28F0}"/>
              </a:ext>
            </a:extLst>
          </p:cNvPr>
          <p:cNvCxnSpPr>
            <a:cxnSpLocks/>
          </p:cNvCxnSpPr>
          <p:nvPr/>
        </p:nvCxnSpPr>
        <p:spPr>
          <a:xfrm>
            <a:off x="5899354" y="2369569"/>
            <a:ext cx="0" cy="3903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428062-7B74-A466-4F91-44231E01F167}"/>
              </a:ext>
            </a:extLst>
          </p:cNvPr>
          <p:cNvCxnSpPr>
            <a:cxnSpLocks/>
          </p:cNvCxnSpPr>
          <p:nvPr/>
        </p:nvCxnSpPr>
        <p:spPr>
          <a:xfrm flipH="1">
            <a:off x="983226" y="4150246"/>
            <a:ext cx="97573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62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F8AC-452B-8839-C94F-DA012B1F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2615-4ACF-CA63-A78F-FD3BD9E09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IPEDS data is well-structured and suitable for research, no dataset scored below Acceptable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Domain knowledge is required, most apparent anomalies are valid conventions requiring access to IPEDS data dictionary to interpret correctly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finance file (F1A) covers 31.5% of institutions, files F2 and F3 are needed to bridge this governance gap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UNITID referential integrity is exceptional with a 100% match across all five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Counting institution types and counting students tell opposite stories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Consider AI-assisted tools to overcome required human domain expertise and to rapidly surface the structural findings needed for deeper governance insights</a:t>
            </a:r>
          </a:p>
        </p:txBody>
      </p:sp>
    </p:spTree>
    <p:extLst>
      <p:ext uri="{BB962C8B-B14F-4D97-AF65-F5344CB8AC3E}">
        <p14:creationId xmlns:p14="http://schemas.microsoft.com/office/powerpoint/2010/main" val="364182024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554</TotalTime>
  <Words>1113</Words>
  <Application>Microsoft Office PowerPoint</Application>
  <PresentationFormat>Widescreen</PresentationFormat>
  <Paragraphs>207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Gill Sans MT</vt:lpstr>
      <vt:lpstr>Wingdings 2</vt:lpstr>
      <vt:lpstr>Dividend</vt:lpstr>
      <vt:lpstr>IPEDS Data Quality Audit</vt:lpstr>
      <vt:lpstr>Audit Scope &amp; Approach</vt:lpstr>
      <vt:lpstr>Audit Framework: DAMA DMBOK</vt:lpstr>
      <vt:lpstr>Overall Data Quality Results</vt:lpstr>
      <vt:lpstr>Dimension 1:  Completeness</vt:lpstr>
      <vt:lpstr>Dimension 2:  Uniqueness</vt:lpstr>
      <vt:lpstr>Dimension 3:  Timeliness</vt:lpstr>
      <vt:lpstr>Dimension 4:  Validity</vt:lpstr>
      <vt:lpstr>Dimension 5:  Accuracy</vt:lpstr>
      <vt:lpstr>Dimension 6:  Consistency</vt:lpstr>
      <vt:lpstr>What the Data Reveals:  Institutional Landscape</vt:lpstr>
      <vt:lpstr>What the Data Reveals:  Sector Structure</vt:lpstr>
      <vt:lpstr>Findings Mapped to Governance Framework</vt:lpstr>
      <vt:lpstr>Priority Recommendations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Tricia Logan</dc:creator>
  <cp:lastModifiedBy>Beaudreau, Patricia</cp:lastModifiedBy>
  <cp:revision>3</cp:revision>
  <dcterms:created xsi:type="dcterms:W3CDTF">2026-04-08T16:19:11Z</dcterms:created>
  <dcterms:modified xsi:type="dcterms:W3CDTF">2026-04-30T20:16:48Z</dcterms:modified>
</cp:coreProperties>
</file>